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spostare la diapositiva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24626C-C1DC-4E73-9BF5-06C8EF586BFE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53AC1F-E516-4CD8-8A40-5BA8659604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A0189C-FF9B-4E71-88CC-1E50B40679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061C0-7C0C-478D-A153-597A1A8B47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2EB48-8754-4AC9-AB7B-F9A5C4052A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EED44-C397-43A6-8C58-6AC2B339D3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79B0F-F375-42B2-845F-A36846E6E3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A853D3-E917-49B7-852C-FB0471B848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D8A7EE-7623-4B23-9376-DDF1FE100C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43A73-246B-47BE-A2D3-A9947787E1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BC1E46-918F-456F-84BA-B3D807298F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DC5BCD-6A39-4E2E-A377-23AF93D703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CDC485-7F24-4671-96D3-4F910FA110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5B257-A127-497F-A5F3-4CCDDE0192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BA490-EFF0-471E-9FE5-A95BA2E6A7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3E441-4D88-4B67-B596-E88013E8C9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5A3DED-A856-4353-B9A7-CE22930597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2AF305-9C27-465A-9CF3-0D5848F92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65596-23A6-4DFD-8CDF-7AF0FBB1AF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 titolo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image" Target="../media/image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0.pn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image" Target="../media/image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2.png"/><Relationship Id="rId11" Type="http://schemas.openxmlformats.org/officeDocument/2006/relationships/image" Target="../media/image2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8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2.png"/><Relationship Id="rId11" Type="http://schemas.openxmlformats.org/officeDocument/2006/relationships/image" Target="../media/image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9.png"/><Relationship Id="rId3" Type="http://schemas.openxmlformats.org/officeDocument/2006/relationships/image" Target="../media/image29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image" Target="../media/image34.png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6.png"/><Relationship Id="rId3" Type="http://schemas.openxmlformats.org/officeDocument/2006/relationships/image" Target="../media/image10.png"/><Relationship Id="rId4" Type="http://schemas.openxmlformats.org/officeDocument/2006/relationships/image" Target="../media/image37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fill Pattern" descr="decorative infill pattern"/>
          <p:cNvPicPr/>
          <p:nvPr/>
        </p:nvPicPr>
        <p:blipFill>
          <a:blip r:embed="rId1"/>
          <a:stretch/>
        </p:blipFill>
        <p:spPr>
          <a:xfrm>
            <a:off x="7992000" y="2657880"/>
            <a:ext cx="4199760" cy="41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0" descr="/home/claude/devfest-fab/organic/blob_leaf.png"/>
          <p:cNvPicPr/>
          <p:nvPr/>
        </p:nvPicPr>
        <p:blipFill>
          <a:blip r:embed="rId2">
            <a:alphaModFix amt="82000"/>
          </a:blip>
          <a:stretch/>
        </p:blipFill>
        <p:spPr>
          <a:xfrm>
            <a:off x="8503920" y="-1188720"/>
            <a:ext cx="5943240" cy="594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/home/claude/devfest-fab/organic/twig.png"/>
          <p:cNvPicPr/>
          <p:nvPr/>
        </p:nvPicPr>
        <p:blipFill>
          <a:blip r:embed="rId3"/>
          <a:stretch/>
        </p:blipFill>
        <p:spPr>
          <a:xfrm flipH="1">
            <a:off x="8687160" y="5120640"/>
            <a:ext cx="3291480" cy="132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731520" y="640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DEVFEST BASILICATA 2026 · OUTDOOR EDITION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1520" y="173736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Dal prompt alla serra</a:t>
            </a:r>
            <a:endParaRPr lang="it-IT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2" descr="/home/claude/devfest-fab/organic/scribble_amber.png"/>
          <p:cNvPicPr/>
          <p:nvPr/>
        </p:nvPicPr>
        <p:blipFill>
          <a:blip r:embed="rId4"/>
          <a:stretch/>
        </p:blipFill>
        <p:spPr>
          <a:xfrm>
            <a:off x="777240" y="2697480"/>
            <a:ext cx="42058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2"/>
          <p:cNvSpPr/>
          <p:nvPr/>
        </p:nvSpPr>
        <p:spPr>
          <a:xfrm>
            <a:off x="731520" y="30632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C7D6B4"/>
                </a:solidFill>
                <a:effectLst/>
                <a:uFillTx/>
                <a:latin typeface="Cambria"/>
                <a:ea typeface="Cambria"/>
              </a:rPr>
              <a:t>L'armatura della natura</a:t>
            </a:r>
            <a:endParaRPr lang="it-IT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3" descr="/home/claude/devfest-fab/organic/leaf_amber.png"/>
          <p:cNvPicPr/>
          <p:nvPr/>
        </p:nvPicPr>
        <p:blipFill>
          <a:blip r:embed="rId5"/>
          <a:stretch/>
        </p:blipFill>
        <p:spPr>
          <a:xfrm>
            <a:off x="749880" y="3977640"/>
            <a:ext cx="2008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3"/>
          <p:cNvSpPr/>
          <p:nvPr/>
        </p:nvSpPr>
        <p:spPr>
          <a:xfrm>
            <a:off x="1051560" y="39502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CAE87"/>
                </a:solidFill>
                <a:effectLst/>
                <a:uFillTx/>
                <a:latin typeface="Calibri"/>
                <a:ea typeface="Calibri"/>
              </a:rPr>
              <a:t>Talk 3 · Gruppo Fab — Build Sprint: Smart Micro-Serra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4" descr="/home/claude/devfest-fab/icons/robot_amber.png"/>
          <p:cNvPicPr/>
          <p:nvPr/>
        </p:nvPicPr>
        <p:blipFill>
          <a:blip r:embed="rId6"/>
          <a:stretch/>
        </p:blipFill>
        <p:spPr>
          <a:xfrm>
            <a:off x="731520" y="5394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4"/>
          <p:cNvSpPr/>
          <p:nvPr/>
        </p:nvSpPr>
        <p:spPr>
          <a:xfrm>
            <a:off x="1115640" y="5367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Gemini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5" descr="/home/claude/devfest-fab/icons/arrow_cream.png"/>
          <p:cNvPicPr/>
          <p:nvPr/>
        </p:nvPicPr>
        <p:blipFill>
          <a:blip r:embed="rId7"/>
          <a:stretch/>
        </p:blipFill>
        <p:spPr>
          <a:xfrm>
            <a:off x="2606040" y="5440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6" descr="/home/claude/devfest-fab/icons/code_cream.png"/>
          <p:cNvPicPr/>
          <p:nvPr/>
        </p:nvPicPr>
        <p:blipFill>
          <a:blip r:embed="rId8"/>
          <a:stretch/>
        </p:blipFill>
        <p:spPr>
          <a:xfrm>
            <a:off x="3017520" y="5394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3401640" y="5367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Colab / Python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7" descr="/home/claude/devfest-fab/icons/arrow_cream.png"/>
          <p:cNvPicPr/>
          <p:nvPr/>
        </p:nvPicPr>
        <p:blipFill>
          <a:blip r:embed="rId9"/>
          <a:stretch/>
        </p:blipFill>
        <p:spPr>
          <a:xfrm>
            <a:off x="4892040" y="5440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Image 8" descr="/home/claude/devfest-fab/icons/print_cream.png"/>
          <p:cNvPicPr/>
          <p:nvPr/>
        </p:nvPicPr>
        <p:blipFill>
          <a:blip r:embed="rId10"/>
          <a:stretch/>
        </p:blipFill>
        <p:spPr>
          <a:xfrm>
            <a:off x="5303520" y="5394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6"/>
          <p:cNvSpPr/>
          <p:nvPr/>
        </p:nvSpPr>
        <p:spPr>
          <a:xfrm>
            <a:off x="5687640" y="5367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Slicer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731520" y="61264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CAE87"/>
                </a:solidFill>
                <a:effectLst/>
                <a:uFillTx/>
                <a:latin typeface="Calibri"/>
                <a:ea typeface="Calibri"/>
              </a:rPr>
              <a:t>Luigi Tuccillo  ·  Build Sprint, mattino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/home/claude/devfest-fab/organic/blob_amber.png"/>
          <p:cNvPicPr/>
          <p:nvPr/>
        </p:nvPicPr>
        <p:blipFill>
          <a:blip r:embed="rId1">
            <a:alphaModFix amt="25000"/>
          </a:blip>
          <a:stretch/>
        </p:blipFill>
        <p:spPr>
          <a:xfrm>
            <a:off x="8778240" y="3840480"/>
            <a:ext cx="4205880" cy="420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Image 1" descr="/home/claude/devfest-fab/organic/leaf_green.png"/>
          <p:cNvPicPr/>
          <p:nvPr/>
        </p:nvPicPr>
        <p:blipFill>
          <a:blip r:embed="rId2"/>
          <a:stretch/>
        </p:blipFill>
        <p:spPr>
          <a:xfrm rot="1500000">
            <a:off x="9966600" y="456840"/>
            <a:ext cx="54828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SPOILER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141732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Spoiler: non vi insegno</a:t>
            </a:r>
            <a:endParaRPr lang="it-IT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48640" y="219456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il CAD (tranquilli)</a:t>
            </a:r>
            <a:endParaRPr lang="it-IT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3"/>
          <a:stretch/>
        </p:blipFill>
        <p:spPr>
          <a:xfrm>
            <a:off x="3420000" y="3154680"/>
            <a:ext cx="5798880" cy="326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UNA SCELTA, NON UN DETTAGLIO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77724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Telaio, non scatola</a:t>
            </a:r>
            <a:endParaRPr lang="it-IT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48640" y="1554480"/>
            <a:ext cx="8686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Una serra deve far passare la luce: una scocca piena la blocca, un telaio con vuoti la lascia entrare.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/home/claude/devfest-fab/organic/blob_amber.png"/>
          <p:cNvPicPr/>
          <p:nvPr/>
        </p:nvPicPr>
        <p:blipFill>
          <a:blip r:embed="rId1">
            <a:alphaModFix amt="38000"/>
          </a:blip>
          <a:stretch/>
        </p:blipFill>
        <p:spPr>
          <a:xfrm>
            <a:off x="365760" y="2468880"/>
            <a:ext cx="2468520" cy="246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Image 1" descr="/home/claude/devfest-fab/icons/tint_blue.png"/>
          <p:cNvPicPr/>
          <p:nvPr/>
        </p:nvPicPr>
        <p:blipFill>
          <a:blip r:embed="rId2"/>
          <a:stretch/>
        </p:blipFill>
        <p:spPr>
          <a:xfrm>
            <a:off x="1307520" y="2880360"/>
            <a:ext cx="58500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3"/>
          <p:cNvSpPr/>
          <p:nvPr/>
        </p:nvSpPr>
        <p:spPr>
          <a:xfrm>
            <a:off x="91440" y="37490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Acqua, non aria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-45720" y="414216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A fermare la pioggia ci pensa il plexiglas, non il telaio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2" descr="/home/claude/devfest-fab/organic/blob_leaf.png"/>
          <p:cNvPicPr/>
          <p:nvPr/>
        </p:nvPicPr>
        <p:blipFill>
          <a:blip r:embed="rId3">
            <a:alphaModFix amt="38000"/>
          </a:blip>
          <a:stretch/>
        </p:blipFill>
        <p:spPr>
          <a:xfrm>
            <a:off x="4160520" y="214884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Image 3" descr="/home/claude/devfest-fab/icons/temp_amber.png"/>
          <p:cNvPicPr/>
          <p:nvPr/>
        </p:nvPicPr>
        <p:blipFill>
          <a:blip r:embed="rId4"/>
          <a:stretch/>
        </p:blipFill>
        <p:spPr>
          <a:xfrm>
            <a:off x="5239440" y="2560320"/>
            <a:ext cx="58500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5"/>
          <p:cNvSpPr/>
          <p:nvPr/>
        </p:nvSpPr>
        <p:spPr>
          <a:xfrm>
            <a:off x="3886200" y="35661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Meno plastica, meno calore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3749040" y="395928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Una scocca piena scalda di più e pesa di più in stampa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4" descr="/home/claude/devfest-fab/organic/blob_amber.png"/>
          <p:cNvPicPr/>
          <p:nvPr/>
        </p:nvPicPr>
        <p:blipFill>
          <a:blip r:embed="rId5">
            <a:alphaModFix amt="38000"/>
          </a:blip>
          <a:stretch/>
        </p:blipFill>
        <p:spPr>
          <a:xfrm>
            <a:off x="8229600" y="2606040"/>
            <a:ext cx="2377080" cy="237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Image 5" descr="/home/claude/devfest-fab/icons/wind_green.png"/>
          <p:cNvPicPr/>
          <p:nvPr/>
        </p:nvPicPr>
        <p:blipFill>
          <a:blip r:embed="rId6"/>
          <a:stretch/>
        </p:blipFill>
        <p:spPr>
          <a:xfrm>
            <a:off x="9125640" y="3017520"/>
            <a:ext cx="58500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7"/>
          <p:cNvSpPr/>
          <p:nvPr/>
        </p:nvSpPr>
        <p:spPr>
          <a:xfrm>
            <a:off x="7955280" y="3840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Aria che circola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7818120" y="423360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I vuoti tra i montanti sono già passaggio di luce e aria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/home/claude/devfest-fab/organic/twig.png"/>
          <p:cNvPicPr/>
          <p:nvPr/>
        </p:nvPicPr>
        <p:blipFill>
          <a:blip r:embed="rId1"/>
          <a:stretch/>
        </p:blipFill>
        <p:spPr>
          <a:xfrm rot="12000000">
            <a:off x="-547920" y="-456480"/>
            <a:ext cx="365724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LA SOLUZIONE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7772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Ci stampiamo noi l'involucro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48640" y="1508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Niente custodia comprata: progetto e stampo io stesso un involucro su misura per ESP32 e sensori.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1" descr="/home/claude/devfest-fab/organic/blob_amber.png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57200" y="24231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Image 2" descr="/home/claude/devfest-fab/icons/door_amber.png"/>
          <p:cNvPicPr/>
          <p:nvPr/>
        </p:nvPicPr>
        <p:blipFill>
          <a:blip r:embed="rId3"/>
          <a:stretch/>
        </p:blipFill>
        <p:spPr>
          <a:xfrm>
            <a:off x="1783080" y="29260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3"/>
          <p:cNvSpPr/>
          <p:nvPr/>
        </p:nvSpPr>
        <p:spPr>
          <a:xfrm>
            <a:off x="365760" y="36118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Su misura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274320" y="40233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Vani e attacchi pensati per i componenti reali, non per una scatola generica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3" descr="/home/claude/devfest-fab/organic/blob_amber.png"/>
          <p:cNvPicPr/>
          <p:nvPr/>
        </p:nvPicPr>
        <p:blipFill>
          <a:blip r:embed="rId4">
            <a:alphaModFix amt="20000"/>
          </a:blip>
          <a:stretch/>
        </p:blipFill>
        <p:spPr>
          <a:xfrm>
            <a:off x="4434840" y="28803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Image 4" descr="/home/claude/devfest-fab/icons/layer_green.png"/>
          <p:cNvPicPr/>
          <p:nvPr/>
        </p:nvPicPr>
        <p:blipFill>
          <a:blip r:embed="rId5"/>
          <a:stretch/>
        </p:blipFill>
        <p:spPr>
          <a:xfrm>
            <a:off x="5760720" y="3383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5"/>
          <p:cNvSpPr/>
          <p:nvPr/>
        </p:nvSpPr>
        <p:spPr>
          <a:xfrm>
            <a:off x="4343400" y="40690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Veloce da correggere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251960" y="44805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Sbagliato un foro o una misura? Ristampo solo il pezzo, non rifaccio tutto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5" descr="/home/claude/devfest-fab/organic/blob_amber.png"/>
          <p:cNvPicPr/>
          <p:nvPr/>
        </p:nvPicPr>
        <p:blipFill>
          <a:blip r:embed="rId6">
            <a:alphaModFix amt="20000"/>
          </a:blip>
          <a:stretch/>
        </p:blipFill>
        <p:spPr>
          <a:xfrm>
            <a:off x="8412480" y="24231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 6" descr="/home/claude/devfest-fab/icons/icon_euro.png"/>
          <p:cNvPicPr/>
          <p:nvPr/>
        </p:nvPicPr>
        <p:blipFill>
          <a:blip r:embed="rId7"/>
          <a:stretch/>
        </p:blipFill>
        <p:spPr>
          <a:xfrm>
            <a:off x="9738360" y="29260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7"/>
          <p:cNvSpPr/>
          <p:nvPr/>
        </p:nvSpPr>
        <p:spPr>
          <a:xfrm>
            <a:off x="8321040" y="36118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Pesa poco, costa poco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8229600" y="40233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Filamento ed energia: pochi euro a pezzo, niente magazzino di custodie inutilizzate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548640" y="64008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Tre pezzi, niente di complesso. Ma "stampare l'involucro" vuol dire comunque disegnarlo da qualche parte. Vediamo come, senza un CAD vero e proprio.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/home/claude/devfest-fab/organic/leaf_amber.png"/>
          <p:cNvPicPr/>
          <p:nvPr/>
        </p:nvPicPr>
        <p:blipFill>
          <a:blip r:embed="rId1"/>
          <a:stretch/>
        </p:blipFill>
        <p:spPr>
          <a:xfrm rot="20700000">
            <a:off x="11338560" y="457200"/>
            <a:ext cx="45684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NIENTE CAD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8640" y="777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Allora come si fa, senza CAD?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48640" y="16002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Un file STL, spogliato di tutto, è solo una lista di triangoli nello spazio. Ed è proprio questa semplicità brutale a renderlo perfetto da far scrivere a un'AI: niente interfacce, solo numeri.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1" descr="/home/claude/devfest-fab/organic/blob_outline.png"/>
          <p:cNvPicPr/>
          <p:nvPr/>
        </p:nvPicPr>
        <p:blipFill>
          <a:blip r:embed="rId2"/>
          <a:stretch/>
        </p:blipFill>
        <p:spPr>
          <a:xfrm>
            <a:off x="274320" y="2468880"/>
            <a:ext cx="512028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3"/>
          <p:cNvSpPr/>
          <p:nvPr/>
        </p:nvSpPr>
        <p:spPr>
          <a:xfrm>
            <a:off x="1188720" y="30632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La via classica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1417320" y="35661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Tinkercad, Fusion 360...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1417320" y="40690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Vincoli, booleane, menu su menu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1417320" y="45720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Bella curva di apprendimento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417320" y="50749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Click dopo click, pezzo dopo pezzo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2" descr="/home/claude/devfest-fab/organic/blob_leaf.png"/>
          <p:cNvPicPr/>
          <p:nvPr/>
        </p:nvPicPr>
        <p:blipFill>
          <a:blip r:embed="rId3"/>
          <a:stretch/>
        </p:blipFill>
        <p:spPr>
          <a:xfrm>
            <a:off x="6400800" y="2194560"/>
            <a:ext cx="548604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8"/>
          <p:cNvSpPr/>
          <p:nvPr/>
        </p:nvSpPr>
        <p:spPr>
          <a:xfrm>
            <a:off x="7223760" y="29260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La via che ho preso io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7406640" y="35204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Racconto a Gemini cosa voglio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7406640" y="39776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Lui scrive lo script (numpy + numpy-stl)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7406640" y="44348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Lo eseguo, esce fuori la mesh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7406640" y="48920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Io leggo, capisco, e se serve litigo un po'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7406640" y="529848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Community: un giro su MakerWorld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Image 0" descr="/home/claude/devfest-fab/organic/twig.png"/>
          <p:cNvPicPr/>
          <p:nvPr/>
        </p:nvPicPr>
        <p:blipFill>
          <a:blip r:embed="rId1"/>
          <a:stretch/>
        </p:blipFill>
        <p:spPr>
          <a:xfrm rot="12000000">
            <a:off x="-547920" y="-456480"/>
            <a:ext cx="365724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BEGINNER FRIENDLY, SUL SERIO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7772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Perché parto da qui, non da un CAD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1508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Non è questione di pigrizia: è che non tutti hanno mesi per imparare un CAD prima di stampare il primo pezzo. Questo metodo abbassa la soglia d'ingresso.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/home/claude/devfest-fab/organic/blob_amber.png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57200" y="24231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Image 2" descr="/home/claude/devfest-fab/icons/door_amber.png"/>
          <p:cNvPicPr/>
          <p:nvPr/>
        </p:nvPicPr>
        <p:blipFill>
          <a:blip r:embed="rId3"/>
          <a:stretch/>
        </p:blipFill>
        <p:spPr>
          <a:xfrm>
            <a:off x="1783080" y="29260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"/>
          <p:cNvSpPr/>
          <p:nvPr/>
        </p:nvSpPr>
        <p:spPr>
          <a:xfrm>
            <a:off x="365760" y="36118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Si parte da zero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274320" y="40233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Niente da installare o imparare prima: bastano un browser e un account Google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3" descr="/home/claude/devfest-fab/organic/blob_amber.png"/>
          <p:cNvPicPr/>
          <p:nvPr/>
        </p:nvPicPr>
        <p:blipFill>
          <a:blip r:embed="rId4">
            <a:alphaModFix amt="20000"/>
          </a:blip>
          <a:stretch/>
        </p:blipFill>
        <p:spPr>
          <a:xfrm>
            <a:off x="4434840" y="28803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Image 4" descr="/home/claude/devfest-fab/icons/layer_green.png"/>
          <p:cNvPicPr/>
          <p:nvPr/>
        </p:nvPicPr>
        <p:blipFill>
          <a:blip r:embed="rId5"/>
          <a:stretch/>
        </p:blipFill>
        <p:spPr>
          <a:xfrm>
            <a:off x="5760720" y="3383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5"/>
          <p:cNvSpPr/>
          <p:nvPr/>
        </p:nvSpPr>
        <p:spPr>
          <a:xfrm>
            <a:off x="4343400" y="40690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Si legge come si scrive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251960" y="44805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Lo script e il file finale parlano la stessa lingua: niente da tradurre a mente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5" descr="/home/claude/devfest-fab/organic/blob_amber.png"/>
          <p:cNvPicPr/>
          <p:nvPr/>
        </p:nvPicPr>
        <p:blipFill>
          <a:blip r:embed="rId6">
            <a:alphaModFix amt="20000"/>
          </a:blip>
          <a:stretch/>
        </p:blipFill>
        <p:spPr>
          <a:xfrm>
            <a:off x="8412480" y="2423160"/>
            <a:ext cx="3245760" cy="324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Image 6" descr="/home/claude/devfest-fab/icons/warning_amber.png"/>
          <p:cNvPicPr/>
          <p:nvPr/>
        </p:nvPicPr>
        <p:blipFill>
          <a:blip r:embed="rId7"/>
          <a:stretch/>
        </p:blipFill>
        <p:spPr>
          <a:xfrm>
            <a:off x="9738360" y="29260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7"/>
          <p:cNvSpPr/>
          <p:nvPr/>
        </p:nvSpPr>
        <p:spPr>
          <a:xfrm>
            <a:off x="8321040" y="36118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Gli errori si vedono</a:t>
            </a:r>
            <a:endParaRPr lang="it-I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8229600" y="40233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Mesh storte, normali al contrario: lo slicer te lo dice subito, in faccia</a:t>
            </a:r>
            <a:endParaRPr lang="it-IT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48640" y="64008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Questo è il punto di partenza per chi non ha mai aperto un CAD. Tra poco vediamo anche quando, invece, il CAD serve davvero.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/home/claude/devfest-fab/organic/leaf_green.png"/>
          <p:cNvPicPr/>
          <p:nvPr/>
        </p:nvPicPr>
        <p:blipFill>
          <a:blip r:embed="rId1"/>
          <a:stretch/>
        </p:blipFill>
        <p:spPr>
          <a:xfrm rot="600000">
            <a:off x="5897520" y="365760"/>
            <a:ext cx="41112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DUE PAROLE CHE USERÒ SPESSO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48640" y="7772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Mesh e tolleranza, in due minuti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/home/claude/devfest-fab/organic/blob_outline.png"/>
          <p:cNvPicPr/>
          <p:nvPr/>
        </p:nvPicPr>
        <p:blipFill>
          <a:blip r:embed="rId2"/>
          <a:stretch/>
        </p:blipFill>
        <p:spPr>
          <a:xfrm>
            <a:off x="365760" y="1645920"/>
            <a:ext cx="521172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2"/>
          <p:cNvSpPr/>
          <p:nvPr/>
        </p:nvSpPr>
        <p:spPr>
          <a:xfrm>
            <a:off x="1463040" y="1965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F5E5A"/>
                </a:solidFill>
                <a:effectLst/>
                <a:uFillTx/>
                <a:latin typeface="Cambria"/>
                <a:ea typeface="Cambria"/>
              </a:rPr>
              <a:t>Mesh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2" descr="/home/claude/devfest-fab/icons/check_green.png"/>
          <p:cNvPicPr/>
          <p:nvPr/>
        </p:nvPicPr>
        <p:blipFill>
          <a:blip r:embed="rId3"/>
          <a:stretch/>
        </p:blipFill>
        <p:spPr>
          <a:xfrm>
            <a:off x="1417320" y="2606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3"/>
          <p:cNvSpPr/>
          <p:nvPr/>
        </p:nvSpPr>
        <p:spPr>
          <a:xfrm>
            <a:off x="1783080" y="256032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Una superficie fatta di triangoli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3" descr="/home/claude/devfest-fab/icons/check_green.png"/>
          <p:cNvPicPr/>
          <p:nvPr/>
        </p:nvPicPr>
        <p:blipFill>
          <a:blip r:embed="rId4"/>
          <a:stretch/>
        </p:blipFill>
        <p:spPr>
          <a:xfrm>
            <a:off x="1417320" y="31089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4"/>
          <p:cNvSpPr/>
          <p:nvPr/>
        </p:nvSpPr>
        <p:spPr>
          <a:xfrm>
            <a:off x="1783080" y="306324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È il formato STL, quello che lo slicer vuole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4" descr="/home/claude/devfest-fab/icons/warning_amber.png"/>
          <p:cNvPicPr/>
          <p:nvPr/>
        </p:nvPicPr>
        <p:blipFill>
          <a:blip r:embed="rId5"/>
          <a:stretch/>
        </p:blipFill>
        <p:spPr>
          <a:xfrm>
            <a:off x="1417320" y="36118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5"/>
          <p:cNvSpPr/>
          <p:nvPr/>
        </p:nvSpPr>
        <p:spPr>
          <a:xfrm>
            <a:off x="1783080" y="356616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Deve essere "chiusa" (watertight)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5" descr="/home/claude/devfest-fab/icons/warning_amber.png"/>
          <p:cNvPicPr/>
          <p:nvPr/>
        </p:nvPicPr>
        <p:blipFill>
          <a:blip r:embed="rId6"/>
          <a:stretch/>
        </p:blipFill>
        <p:spPr>
          <a:xfrm>
            <a:off x="1417320" y="41148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6"/>
          <p:cNvSpPr/>
          <p:nvPr/>
        </p:nvSpPr>
        <p:spPr>
          <a:xfrm>
            <a:off x="1783080" y="406908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Un buco nella mesh = lo slicer si blocca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1463040" y="52120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Niente curve, niente storia: solo triangoli nello spazio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6" descr="/home/claude/devfest-fab/organic/blob_leaf.png"/>
          <p:cNvPicPr/>
          <p:nvPr/>
        </p:nvPicPr>
        <p:blipFill>
          <a:blip r:embed="rId7"/>
          <a:stretch/>
        </p:blipFill>
        <p:spPr>
          <a:xfrm>
            <a:off x="6263640" y="1463040"/>
            <a:ext cx="557748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7498080" y="18745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Tolleranza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7" descr="/home/claude/devfest-fab/icons/check_cream.png"/>
          <p:cNvPicPr/>
          <p:nvPr/>
        </p:nvPicPr>
        <p:blipFill>
          <a:blip r:embed="rId8"/>
          <a:stretch/>
        </p:blipFill>
        <p:spPr>
          <a:xfrm>
            <a:off x="7452360" y="25146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9"/>
          <p:cNvSpPr/>
          <p:nvPr/>
        </p:nvSpPr>
        <p:spPr>
          <a:xfrm>
            <a:off x="7818120" y="246888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Il margine di gioco tra due pezzi incastrati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8" descr="/home/claude/devfest-fab/icons/check_cream.png"/>
          <p:cNvPicPr/>
          <p:nvPr/>
        </p:nvPicPr>
        <p:blipFill>
          <a:blip r:embed="rId9"/>
          <a:stretch/>
        </p:blipFill>
        <p:spPr>
          <a:xfrm>
            <a:off x="7452360" y="30175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10"/>
          <p:cNvSpPr/>
          <p:nvPr/>
        </p:nvSpPr>
        <p:spPr>
          <a:xfrm>
            <a:off x="7818120" y="29718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La stampante non è precisa al centesimo di mm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9" descr="/home/claude/devfest-fab/icons/warning_amber.png"/>
          <p:cNvPicPr/>
          <p:nvPr/>
        </p:nvPicPr>
        <p:blipFill>
          <a:blip r:embed="rId10"/>
          <a:stretch/>
        </p:blipFill>
        <p:spPr>
          <a:xfrm>
            <a:off x="7452360" y="35204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1"/>
          <p:cNvSpPr/>
          <p:nvPr/>
        </p:nvSpPr>
        <p:spPr>
          <a:xfrm>
            <a:off x="7818120" y="347472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Troppo stretta: il pezzo non entra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0" descr="/home/claude/devfest-fab/icons/warning_amber.png"/>
          <p:cNvPicPr/>
          <p:nvPr/>
        </p:nvPicPr>
        <p:blipFill>
          <a:blip r:embed="rId11"/>
          <a:stretch/>
        </p:blipFill>
        <p:spPr>
          <a:xfrm>
            <a:off x="7452360" y="40233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2"/>
          <p:cNvSpPr/>
          <p:nvPr/>
        </p:nvSpPr>
        <p:spPr>
          <a:xfrm>
            <a:off x="7818120" y="39776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Troppo larga: il pezzo balla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7498080" y="525780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Tipico: 0,1-0,2 mm di gioco per incastri a frizione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Image 0" descr="/home/claude/devfest-fab/organic/leaf_green.png"/>
          <p:cNvPicPr/>
          <p:nvPr/>
        </p:nvPicPr>
        <p:blipFill>
          <a:blip r:embed="rId1"/>
          <a:stretch/>
        </p:blipFill>
        <p:spPr>
          <a:xfrm rot="600000">
            <a:off x="5897520" y="365760"/>
            <a:ext cx="41112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LEZIONE IMPARATA SUL CAMPO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48640" y="7772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PLA o PETG? L'ho scoperto a costo zero (quasi)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" descr="/home/claude/devfest-fab/organic/blob_outline.png"/>
          <p:cNvPicPr/>
          <p:nvPr/>
        </p:nvPicPr>
        <p:blipFill>
          <a:blip r:embed="rId2"/>
          <a:stretch/>
        </p:blipFill>
        <p:spPr>
          <a:xfrm>
            <a:off x="365760" y="1645920"/>
            <a:ext cx="521172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2"/>
          <p:cNvSpPr/>
          <p:nvPr/>
        </p:nvSpPr>
        <p:spPr>
          <a:xfrm>
            <a:off x="1463040" y="1965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F5E5A"/>
                </a:solidFill>
                <a:effectLst/>
                <a:uFillTx/>
                <a:latin typeface="Cambria"/>
                <a:ea typeface="Cambria"/>
              </a:rPr>
              <a:t>PLA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2" descr="/home/claude/devfest-fab/icons/check_green.png"/>
          <p:cNvPicPr/>
          <p:nvPr/>
        </p:nvPicPr>
        <p:blipFill>
          <a:blip r:embed="rId3"/>
          <a:stretch/>
        </p:blipFill>
        <p:spPr>
          <a:xfrm>
            <a:off x="1417320" y="2606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3"/>
          <p:cNvSpPr/>
          <p:nvPr/>
        </p:nvSpPr>
        <p:spPr>
          <a:xfrm>
            <a:off x="1783080" y="256032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Facile da stampare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3" descr="/home/claude/devfest-fab/icons/check_green.png"/>
          <p:cNvPicPr/>
          <p:nvPr/>
        </p:nvPicPr>
        <p:blipFill>
          <a:blip r:embed="rId4"/>
          <a:stretch/>
        </p:blipFill>
        <p:spPr>
          <a:xfrm>
            <a:off x="1417320" y="31089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4"/>
          <p:cNvSpPr/>
          <p:nvPr/>
        </p:nvSpPr>
        <p:spPr>
          <a:xfrm>
            <a:off x="1783080" y="306324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Biodegradabile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4" descr="/home/claude/devfest-fab/icons/warning_amber.png"/>
          <p:cNvPicPr/>
          <p:nvPr/>
        </p:nvPicPr>
        <p:blipFill>
          <a:blip r:embed="rId5"/>
          <a:stretch/>
        </p:blipFill>
        <p:spPr>
          <a:xfrm>
            <a:off x="1417320" y="36118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1783080" y="356616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Si deforma sopra i 60°C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5" descr="/home/claude/devfest-fab/icons/warning_amber.png"/>
          <p:cNvPicPr/>
          <p:nvPr/>
        </p:nvPicPr>
        <p:blipFill>
          <a:blip r:embed="rId6"/>
          <a:stretch/>
        </p:blipFill>
        <p:spPr>
          <a:xfrm>
            <a:off x="1417320" y="41148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6"/>
          <p:cNvSpPr/>
          <p:nvPr/>
        </p:nvSpPr>
        <p:spPr>
          <a:xfrm>
            <a:off x="1783080" y="4069080"/>
            <a:ext cx="352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Sole estivo diretto = rischio fusione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1463040" y="52120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Bello, ma si squaglia al sole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6" descr="/home/claude/devfest-fab/organic/blob_leaf.png"/>
          <p:cNvPicPr/>
          <p:nvPr/>
        </p:nvPicPr>
        <p:blipFill>
          <a:blip r:embed="rId7"/>
          <a:stretch/>
        </p:blipFill>
        <p:spPr>
          <a:xfrm>
            <a:off x="6263640" y="1463040"/>
            <a:ext cx="557748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8"/>
          <p:cNvSpPr/>
          <p:nvPr/>
        </p:nvSpPr>
        <p:spPr>
          <a:xfrm>
            <a:off x="7498080" y="18745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PETG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7" descr="/home/claude/devfest-fab/icons/check_cream.png"/>
          <p:cNvPicPr/>
          <p:nvPr/>
        </p:nvPicPr>
        <p:blipFill>
          <a:blip r:embed="rId8"/>
          <a:stretch/>
        </p:blipFill>
        <p:spPr>
          <a:xfrm>
            <a:off x="7452360" y="25146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9"/>
          <p:cNvSpPr/>
          <p:nvPr/>
        </p:nvSpPr>
        <p:spPr>
          <a:xfrm>
            <a:off x="7818120" y="246888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Resistente all'acqua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8" descr="/home/claude/devfest-fab/icons/check_cream.png"/>
          <p:cNvPicPr/>
          <p:nvPr/>
        </p:nvPicPr>
        <p:blipFill>
          <a:blip r:embed="rId9"/>
          <a:stretch/>
        </p:blipFill>
        <p:spPr>
          <a:xfrm>
            <a:off x="7452360" y="30175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0"/>
          <p:cNvSpPr/>
          <p:nvPr/>
        </p:nvSpPr>
        <p:spPr>
          <a:xfrm>
            <a:off x="7818120" y="29718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Sopporta temperature più alte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9" descr="/home/claude/devfest-fab/icons/check_cream.png"/>
          <p:cNvPicPr/>
          <p:nvPr/>
        </p:nvPicPr>
        <p:blipFill>
          <a:blip r:embed="rId10"/>
          <a:stretch/>
        </p:blipFill>
        <p:spPr>
          <a:xfrm>
            <a:off x="7452360" y="35204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1"/>
          <p:cNvSpPr/>
          <p:nvPr/>
        </p:nvSpPr>
        <p:spPr>
          <a:xfrm>
            <a:off x="7818120" y="347472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Sufficientemente flessibile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10" descr="/home/claude/devfest-fab/icons/check_cream.png"/>
          <p:cNvPicPr/>
          <p:nvPr/>
        </p:nvPicPr>
        <p:blipFill>
          <a:blip r:embed="rId11"/>
          <a:stretch/>
        </p:blipFill>
        <p:spPr>
          <a:xfrm>
            <a:off x="7452360" y="40233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2"/>
          <p:cNvSpPr/>
          <p:nvPr/>
        </p:nvSpPr>
        <p:spPr>
          <a:xfrm>
            <a:off x="7818120" y="39776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Non si spacca facilmente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7498080" y="525780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Il mio preferito, per Base, Body, Roof e finestre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0" descr="/home/claude/devfest-fab/organic/twig.png"/>
          <p:cNvPicPr/>
          <p:nvPr/>
        </p:nvPicPr>
        <p:blipFill>
          <a:blip r:embed="rId1"/>
          <a:stretch/>
        </p:blipFill>
        <p:spPr>
          <a:xfrm>
            <a:off x="8595360" y="274320"/>
            <a:ext cx="320004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COSE CHE HO IMPARATO A FATICA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48640" y="8686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Il plexiglas ferma la pioggia, non il telaio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48640" y="169164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Il telaio resta sempre aperto: l'acqua piovana la deve fermare il pannello, non la stampa. E il plexiglas si muove con il caldo più della plastica intorno.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1" descr="/home/claude/devfest-fab/organic/blob_amber.png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57200" y="2880360"/>
            <a:ext cx="3108600" cy="310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Image 2" descr="/home/claude/devfest-fab/icons/wind_green.png"/>
          <p:cNvPicPr/>
          <p:nvPr/>
        </p:nvPicPr>
        <p:blipFill>
          <a:blip r:embed="rId3"/>
          <a:stretch/>
        </p:blipFill>
        <p:spPr>
          <a:xfrm>
            <a:off x="1737360" y="33375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3"/>
          <p:cNvSpPr/>
          <p:nvPr/>
        </p:nvSpPr>
        <p:spPr>
          <a:xfrm>
            <a:off x="320040" y="40233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Battuta, non incastro a tenuta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228600" y="441648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Il plexiglas appoggia sul gradino: non si incolla, si lascia libero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3" descr="/home/claude/devfest-fab/organic/blob_amber.png"/>
          <p:cNvPicPr/>
          <p:nvPr/>
        </p:nvPicPr>
        <p:blipFill>
          <a:blip r:embed="rId4">
            <a:alphaModFix amt="20000"/>
          </a:blip>
          <a:stretch/>
        </p:blipFill>
        <p:spPr>
          <a:xfrm>
            <a:off x="4434840" y="3246120"/>
            <a:ext cx="3108600" cy="310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Image 4" descr="/home/claude/devfest-fab/icons/shield_amber.png"/>
          <p:cNvPicPr/>
          <p:nvPr/>
        </p:nvPicPr>
        <p:blipFill>
          <a:blip r:embed="rId5"/>
          <a:stretch/>
        </p:blipFill>
        <p:spPr>
          <a:xfrm>
            <a:off x="5715000" y="37033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5"/>
          <p:cNvSpPr/>
          <p:nvPr/>
        </p:nvSpPr>
        <p:spPr>
          <a:xfrm>
            <a:off x="4297680" y="43891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Gioco per la dilatazione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206240" y="478224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Plexiglas e PETG si muovono al sole in modo diverso: la battuta deve assorbirlo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5" descr="/home/claude/devfest-fab/organic/blob_amber.png"/>
          <p:cNvPicPr/>
          <p:nvPr/>
        </p:nvPicPr>
        <p:blipFill>
          <a:blip r:embed="rId6">
            <a:alphaModFix amt="20000"/>
          </a:blip>
          <a:stretch/>
        </p:blipFill>
        <p:spPr>
          <a:xfrm>
            <a:off x="8412480" y="2880360"/>
            <a:ext cx="3108600" cy="310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Image 6" descr="/home/claude/devfest-fab/icons/tint_blue.png"/>
          <p:cNvPicPr/>
          <p:nvPr/>
        </p:nvPicPr>
        <p:blipFill>
          <a:blip r:embed="rId7"/>
          <a:stretch/>
        </p:blipFill>
        <p:spPr>
          <a:xfrm>
            <a:off x="9692640" y="33375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7"/>
          <p:cNvSpPr/>
          <p:nvPr/>
        </p:nvSpPr>
        <p:spPr>
          <a:xfrm>
            <a:off x="8275320" y="402336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Pendenza che scarica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8183880" y="4416480"/>
            <a:ext cx="3565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Sul tetto la battuta segue la falda: l'acqua scivola via da sola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I TRE AMICI DELLA SERRA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7772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Tre pezzi, tre personalità</a:t>
            </a:r>
            <a:endParaRPr lang="it-IT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48640" y="15087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La struttura si scompone in tre STL separati, generati uno alla volta e assemblati alla fine.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0" descr="/home/claude/devfest-fab/organic/blob_cream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365760" y="2286000"/>
            <a:ext cx="34286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Image 1" descr="/home/claude/devfest-fab/icons/box_green.png"/>
          <p:cNvPicPr/>
          <p:nvPr/>
        </p:nvPicPr>
        <p:blipFill>
          <a:blip r:embed="rId2"/>
          <a:stretch/>
        </p:blipFill>
        <p:spPr>
          <a:xfrm>
            <a:off x="1810440" y="27432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3"/>
          <p:cNvSpPr/>
          <p:nvPr/>
        </p:nvSpPr>
        <p:spPr>
          <a:xfrm>
            <a:off x="365760" y="342900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Base</a:t>
            </a:r>
            <a:endParaRPr lang="it-IT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365760" y="386784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49 × 151,3 × 151,6 mm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868680" y="4251960"/>
            <a:ext cx="2422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Pannello con finestra aperta nella parte alta</a:t>
            </a:r>
            <a:endParaRPr lang="it-IT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2" descr="/home/claude/devfest-fab/organic/blob_cream.png"/>
          <p:cNvPicPr/>
          <p:nvPr/>
        </p:nvPicPr>
        <p:blipFill>
          <a:blip r:embed="rId3">
            <a:alphaModFix amt="95000"/>
          </a:blip>
          <a:stretch/>
        </p:blipFill>
        <p:spPr>
          <a:xfrm>
            <a:off x="4389120" y="1965960"/>
            <a:ext cx="34286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Image 3" descr="/home/claude/devfest-fab/icons/home_amber.png"/>
          <p:cNvPicPr/>
          <p:nvPr/>
        </p:nvPicPr>
        <p:blipFill>
          <a:blip r:embed="rId4"/>
          <a:stretch/>
        </p:blipFill>
        <p:spPr>
          <a:xfrm>
            <a:off x="5833800" y="24231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6"/>
          <p:cNvSpPr/>
          <p:nvPr/>
        </p:nvSpPr>
        <p:spPr>
          <a:xfrm>
            <a:off x="4389120" y="310896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Body</a:t>
            </a:r>
            <a:endParaRPr lang="it-IT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4389120" y="354780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151,5 × 151,6 × 151,3 mm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892040" y="3931920"/>
            <a:ext cx="2422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Telaio a montanti con croci, vuoti da chiudere con plexiglas</a:t>
            </a:r>
            <a:endParaRPr lang="it-IT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4" descr="/home/claude/devfest-fab/organic/blob_cream.png"/>
          <p:cNvPicPr/>
          <p:nvPr/>
        </p:nvPicPr>
        <p:blipFill>
          <a:blip r:embed="rId5">
            <a:alphaModFix amt="95000"/>
          </a:blip>
          <a:stretch/>
        </p:blipFill>
        <p:spPr>
          <a:xfrm>
            <a:off x="8366760" y="2286000"/>
            <a:ext cx="34286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Image 5" descr="/home/claude/devfest-fab/icons/roof_green.png"/>
          <p:cNvPicPr/>
          <p:nvPr/>
        </p:nvPicPr>
        <p:blipFill>
          <a:blip r:embed="rId6"/>
          <a:stretch/>
        </p:blipFill>
        <p:spPr>
          <a:xfrm>
            <a:off x="9811440" y="27432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9"/>
          <p:cNvSpPr/>
          <p:nvPr/>
        </p:nvSpPr>
        <p:spPr>
          <a:xfrm>
            <a:off x="8366760" y="342900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Roof</a:t>
            </a:r>
            <a:endParaRPr lang="it-IT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8366760" y="386784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151,3 mm di estrusione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8869680" y="4251960"/>
            <a:ext cx="2422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Tetto a falda, frontoni a croce, griglia per pannelli in plexiglas</a:t>
            </a:r>
            <a:endParaRPr lang="it-IT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Image 0" descr="/home/claude/devfest-fab/organic/leaf_amber.png"/>
          <p:cNvPicPr/>
          <p:nvPr/>
        </p:nvPicPr>
        <p:blipFill>
          <a:blip r:embed="rId1"/>
          <a:stretch/>
        </p:blipFill>
        <p:spPr>
          <a:xfrm rot="9600000">
            <a:off x="11384280" y="5121000"/>
            <a:ext cx="45684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COSE CHE HO IMPARATO A FATICA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7772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La plastica si ritira: io no, ho dovuto adattarmi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548640" y="16002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Un foro disegnato esattamente a misura, in pratica, non lascia passare niente: la plastica si ritira raffreddandosi e il pezzo non entra.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1" descr="/home/claude/devfest-fab/organic/blob_leaf.png"/>
          <p:cNvPicPr/>
          <p:nvPr/>
        </p:nvPicPr>
        <p:blipFill>
          <a:blip r:embed="rId2"/>
          <a:stretch/>
        </p:blipFill>
        <p:spPr>
          <a:xfrm>
            <a:off x="6858000" y="1280160"/>
            <a:ext cx="4845960" cy="26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3"/>
          <p:cNvSpPr/>
          <p:nvPr/>
        </p:nvSpPr>
        <p:spPr>
          <a:xfrm>
            <a:off x="6858000" y="18288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BA7517"/>
                </a:solidFill>
                <a:effectLst/>
                <a:uFillTx/>
                <a:latin typeface="Cambria"/>
                <a:ea typeface="Cambria"/>
              </a:rPr>
              <a:t>0,2 — 0,5 mm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7315200" y="251460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tolleranza tipica, secondo la precisione della stampante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548640" y="2999160"/>
            <a:ext cx="72720" cy="72720"/>
          </a:xfrm>
          <a:prstGeom prst="ellipse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777240" y="28162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Standoff ESP32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3611880" y="28162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cilindri Ø 4 mm, alti 5 mm agli angoli scheda 52×28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548640" y="3620880"/>
            <a:ext cx="72720" cy="72720"/>
          </a:xfrm>
          <a:prstGeom prst="ellipse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777240" y="34380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Fessura DHT11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3611880" y="343800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dimensionata con tolleranza, solo la griglia sporge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548640" y="4242960"/>
            <a:ext cx="72720" cy="72720"/>
          </a:xfrm>
          <a:prstGeom prst="ellipse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777240" y="4060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Battuta finestre PETG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3611880" y="40600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gradino 4 mm, rientro 2,5 mm, poi foro passante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548640" y="51206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Stessa regola, stessa cifra, anche per i fori dei cavi USB, sensore suolo e relè pompa. Una volta capita, si riusa ovunque.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IL MIO METODO (SE COSÌ SI PUÒ CHIAMARE)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48640" y="7772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Il giro che faccio per ogni pezzo</a:t>
            </a:r>
            <a:endParaRPr lang="it-IT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0" descr="/home/claude/devfest-fab/organic/blob_amber.png"/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365760" y="196596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Image 1" descr="/home/claude/devfest-fab/icons/comment_cream.png"/>
          <p:cNvPicPr/>
          <p:nvPr/>
        </p:nvPicPr>
        <p:blipFill>
          <a:blip r:embed="rId2"/>
          <a:stretch/>
        </p:blipFill>
        <p:spPr>
          <a:xfrm>
            <a:off x="1508760" y="2468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2"/>
          <p:cNvSpPr/>
          <p:nvPr/>
        </p:nvSpPr>
        <p:spPr>
          <a:xfrm>
            <a:off x="274320" y="30632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1. Chiedo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182880" y="34473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Descrivo il pezzo a Gemini a parole: misure, fori, spessori</a:t>
            </a:r>
            <a:endParaRPr lang="it-IT" sz="1150" b="0" u="none" strike="noStrike">
              <a:solidFill>
                <a:srgbClr val="F4EFE3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2" descr="/home/claude/devfest-fab/icons/arrow_cream.png"/>
          <p:cNvPicPr/>
          <p:nvPr/>
        </p:nvPicPr>
        <p:blipFill>
          <a:blip r:embed="rId3"/>
          <a:stretch/>
        </p:blipFill>
        <p:spPr>
          <a:xfrm>
            <a:off x="3154680" y="3154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Image 3" descr="/home/claude/devfest-fab/organic/blob_leaf.png"/>
          <p:cNvPicPr/>
          <p:nvPr/>
        </p:nvPicPr>
        <p:blipFill>
          <a:blip r:embed="rId4"/>
          <a:stretch/>
        </p:blipFill>
        <p:spPr>
          <a:xfrm>
            <a:off x="3246120" y="169164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Image 4" descr="/home/claude/devfest-fab/icons/robot_amber.png"/>
          <p:cNvPicPr/>
          <p:nvPr/>
        </p:nvPicPr>
        <p:blipFill>
          <a:blip r:embed="rId5"/>
          <a:stretch/>
        </p:blipFill>
        <p:spPr>
          <a:xfrm>
            <a:off x="4389120" y="2194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4"/>
          <p:cNvSpPr/>
          <p:nvPr/>
        </p:nvSpPr>
        <p:spPr>
          <a:xfrm>
            <a:off x="3154680" y="27889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2. Lui scrive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3063240" y="31730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Gemini mi tira fuori lo script Python (numpy + numpy-stl)</a:t>
            </a:r>
            <a:endParaRPr lang="it-IT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5" descr="/home/claude/devfest-fab/icons/arrow_cream.png"/>
          <p:cNvPicPr/>
          <p:nvPr/>
        </p:nvPicPr>
        <p:blipFill>
          <a:blip r:embed="rId6"/>
          <a:stretch/>
        </p:blipFill>
        <p:spPr>
          <a:xfrm>
            <a:off x="6035040" y="2880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Image 6" descr="/home/claude/devfest-fab/organic/blob_amber.png"/>
          <p:cNvPicPr/>
          <p:nvPr/>
        </p:nvPicPr>
        <p:blipFill>
          <a:blip r:embed="rId7">
            <a:alphaModFix amt="30000"/>
          </a:blip>
          <a:stretch/>
        </p:blipFill>
        <p:spPr>
          <a:xfrm>
            <a:off x="6126480" y="196596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Image 7" descr="/home/claude/devfest-fab/icons/code_cream.png"/>
          <p:cNvPicPr/>
          <p:nvPr/>
        </p:nvPicPr>
        <p:blipFill>
          <a:blip r:embed="rId8"/>
          <a:stretch/>
        </p:blipFill>
        <p:spPr>
          <a:xfrm>
            <a:off x="7269480" y="2468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6"/>
          <p:cNvSpPr/>
          <p:nvPr/>
        </p:nvSpPr>
        <p:spPr>
          <a:xfrm>
            <a:off x="6035040" y="30632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3. Eseguo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5943600" y="34473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Incollo il codice su Colab, lo lancio, esce il file .stl</a:t>
            </a:r>
            <a:endParaRPr lang="it-IT" sz="1150" b="0" u="none" strike="noStrike">
              <a:solidFill>
                <a:srgbClr val="F4EFE3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8" descr="/home/claude/devfest-fab/icons/arrow_cream.png"/>
          <p:cNvPicPr/>
          <p:nvPr/>
        </p:nvPicPr>
        <p:blipFill>
          <a:blip r:embed="rId9"/>
          <a:stretch/>
        </p:blipFill>
        <p:spPr>
          <a:xfrm>
            <a:off x="8915400" y="3154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Image 9" descr="/home/claude/devfest-fab/organic/blob_leaf.png"/>
          <p:cNvPicPr/>
          <p:nvPr/>
        </p:nvPicPr>
        <p:blipFill>
          <a:blip r:embed="rId10"/>
          <a:stretch/>
        </p:blipFill>
        <p:spPr>
          <a:xfrm>
            <a:off x="9006840" y="169164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Image 10" descr="/home/claude/devfest-fab/icons/print_cream.png"/>
          <p:cNvPicPr/>
          <p:nvPr/>
        </p:nvPicPr>
        <p:blipFill>
          <a:blip r:embed="rId11"/>
          <a:stretch/>
        </p:blipFill>
        <p:spPr>
          <a:xfrm>
            <a:off x="10149840" y="2194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8"/>
          <p:cNvSpPr/>
          <p:nvPr/>
        </p:nvSpPr>
        <p:spPr>
          <a:xfrm>
            <a:off x="8915400" y="27889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4. Controllo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8823960" y="31730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Apro l'STL nello slicer: misure giuste? mesh chiusa?</a:t>
            </a:r>
            <a:endParaRPr lang="it-IT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548640" y="5212080"/>
            <a:ext cx="11063880" cy="868320"/>
          </a:xfrm>
          <a:prstGeom prst="roundRect">
            <a:avLst>
              <a:gd name="adj" fmla="val 47368"/>
            </a:avLst>
          </a:prstGeom>
          <a:solidFill>
            <a:srgbClr val="3B6D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868680" y="521208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Se qualcosa non va — misure sbagliate, geometria strana — si torna su Colab, si litiga un altro po' col prompt, e si riprova. Non è un imprevisto, è il metodo.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Image 0" descr="/home/claude/devfest-fab/organic/leaf_green.png"/>
          <p:cNvPicPr/>
          <p:nvPr/>
        </p:nvPicPr>
        <p:blipFill>
          <a:blip r:embed="rId1"/>
          <a:stretch/>
        </p:blipFill>
        <p:spPr>
          <a:xfrm rot="20400000">
            <a:off x="11292840" y="411120"/>
            <a:ext cx="45684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ONESTÀ, PRIMA DI PROSEGUIRE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548640" y="7772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Quando serve davvero il CAD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548640" y="16002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Per Base, Body e Roof lo script basta e avanza. Ma per finiture, incastri di precisione o modifiche fini, un CAD vero resta lo strumento giusto: ecco i due che uso io.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1" descr="/home/claude/devfest-fab/organic/blob_outline.png"/>
          <p:cNvPicPr/>
          <p:nvPr/>
        </p:nvPicPr>
        <p:blipFill>
          <a:blip r:embed="rId2"/>
          <a:stretch/>
        </p:blipFill>
        <p:spPr>
          <a:xfrm>
            <a:off x="274320" y="2468880"/>
            <a:ext cx="512028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Image 2" descr="/home/claude/devfest-fab/icons/cube_green.png"/>
          <p:cNvPicPr/>
          <p:nvPr/>
        </p:nvPicPr>
        <p:blipFill>
          <a:blip r:embed="rId3"/>
          <a:stretch/>
        </p:blipFill>
        <p:spPr>
          <a:xfrm>
            <a:off x="2606040" y="2697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3"/>
          <p:cNvSpPr/>
          <p:nvPr/>
        </p:nvSpPr>
        <p:spPr>
          <a:xfrm>
            <a:off x="1188720" y="3246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zoo.dev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325880" y="3749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Text-to-CAD: stesso spirito del prompt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1325880" y="42519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Genera STEP editabile, non solo mesh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1325880" y="47548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Buono per partire da zero su un pezzo nuovo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3" descr="/home/claude/devfest-fab/organic/blob_leaf.png"/>
          <p:cNvPicPr/>
          <p:nvPr/>
        </p:nvPicPr>
        <p:blipFill>
          <a:blip r:embed="rId4"/>
          <a:stretch/>
        </p:blipFill>
        <p:spPr>
          <a:xfrm>
            <a:off x="6400800" y="2331720"/>
            <a:ext cx="5486040" cy="420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Image 4" descr="/home/claude/devfest-fab/icons/sliders_amber.png"/>
          <p:cNvPicPr/>
          <p:nvPr/>
        </p:nvPicPr>
        <p:blipFill>
          <a:blip r:embed="rId5"/>
          <a:stretch/>
        </p:blipFill>
        <p:spPr>
          <a:xfrm>
            <a:off x="8915400" y="26060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7"/>
          <p:cNvSpPr/>
          <p:nvPr/>
        </p:nvSpPr>
        <p:spPr>
          <a:xfrm>
            <a:off x="7223760" y="31546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Fusion 360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7406640" y="36576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Per le finiture: smussi, incastri, tolleranze fini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7406640" y="41605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Editing diretto su STEP/STL già generati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7406640" y="46634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D9"/>
                </a:solidFill>
                <a:effectLst/>
                <a:uFillTx/>
                <a:latin typeface="Calibri"/>
                <a:ea typeface="Calibri"/>
              </a:rPr>
              <a:t>Quando serve controllo millimetrico vero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VISTO DAL VIVO (QUASI)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548640" y="7772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Un esempio vero: Base.stl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548640" y="1691640"/>
            <a:ext cx="10606680" cy="1691280"/>
          </a:xfrm>
          <a:prstGeom prst="roundRect">
            <a:avLst>
              <a:gd name="adj" fmla="val 9730"/>
            </a:avLst>
          </a:prstGeom>
          <a:solidFill>
            <a:srgbClr val="2A2A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868680" y="1828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PROMPT A GEMINI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868680" y="2103120"/>
            <a:ext cx="9966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E8E4D8"/>
                </a:solidFill>
                <a:effectLst/>
                <a:uFillTx/>
                <a:latin typeface="Courier New"/>
                <a:ea typeface="Courier New"/>
              </a:rPr>
              <a:t>"Scrivi uno script Python con numpy e numpy-stl che generi un pannello 49 × 151,3 × 151,6 mm, con una finestra passante nella parte alta, centrata tra Y=59 e Y=94 mm. Salva in Base.stl."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Image 0" descr="/home/claude/devfest-fab/icons/check_green.png"/>
          <p:cNvPicPr/>
          <p:nvPr/>
        </p:nvPicPr>
        <p:blipFill>
          <a:blip r:embed="rId1"/>
          <a:stretch/>
        </p:blipFill>
        <p:spPr>
          <a:xfrm>
            <a:off x="548640" y="3703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 5"/>
          <p:cNvSpPr/>
          <p:nvPr/>
        </p:nvSpPr>
        <p:spPr>
          <a:xfrm>
            <a:off x="1005840" y="36392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Le misure ci sono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548640" y="4114800"/>
            <a:ext cx="3520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49 × 151,3 × 151,6 mm, controllate nello slicer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1" descr="/home/claude/devfest-fab/icons/warning_amber.png"/>
          <p:cNvPicPr/>
          <p:nvPr/>
        </p:nvPicPr>
        <p:blipFill>
          <a:blip r:embed="rId2"/>
          <a:stretch/>
        </p:blipFill>
        <p:spPr>
          <a:xfrm>
            <a:off x="4343400" y="3703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7"/>
          <p:cNvSpPr/>
          <p:nvPr/>
        </p:nvSpPr>
        <p:spPr>
          <a:xfrm>
            <a:off x="4800600" y="36392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Qualche normale storta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4343400" y="4114800"/>
            <a:ext cx="3520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Lo slicer se ne accorge e offre la riparazione automatica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2" descr="/home/claude/devfest-fab/icons/print_green.png"/>
          <p:cNvPicPr/>
          <p:nvPr/>
        </p:nvPicPr>
        <p:blipFill>
          <a:blip r:embed="rId3"/>
          <a:stretch/>
        </p:blipFill>
        <p:spPr>
          <a:xfrm>
            <a:off x="8138160" y="3703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9"/>
          <p:cNvSpPr/>
          <p:nvPr/>
        </p:nvSpPr>
        <p:spPr>
          <a:xfrm>
            <a:off x="8595360" y="36392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Pronto a stampare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8138160" y="4114800"/>
            <a:ext cx="3520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Confermato tutto, si passa al pezzo dopo</a:t>
            </a:r>
            <a:endParaRPr lang="it-I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548640" y="52120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Body.stl e Roof.stl si fanno con lo stesso identico giro: cambia solo cosa chiedo, non come lavoro.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DETTAGLI CHE FANNO LA DIFFERENZA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48640" y="7772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Le finestre? Non un buco, un gradino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548640" y="1600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I vuoti del telaio ospitano una lastra di plexiglas a filo con il montante esterno: serve un gradino concentrico, non un semplice buco.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7818120" y="1965960"/>
            <a:ext cx="3565800" cy="2834280"/>
          </a:xfrm>
          <a:prstGeom prst="roundRect">
            <a:avLst>
              <a:gd name="adj" fmla="val 1935"/>
            </a:avLst>
          </a:prstGeom>
          <a:solidFill>
            <a:srgbClr val="B4B2A9"/>
          </a:solidFill>
          <a:ln w="9525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8298360" y="2423160"/>
            <a:ext cx="2605680" cy="1919880"/>
          </a:xfrm>
          <a:prstGeom prst="roundRect">
            <a:avLst>
              <a:gd name="adj" fmla="val 2857"/>
            </a:avLst>
          </a:prstGeom>
          <a:solidFill>
            <a:srgbClr val="97C459"/>
          </a:solidFill>
          <a:ln w="9525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8778240" y="2834640"/>
            <a:ext cx="1645560" cy="1096920"/>
          </a:xfrm>
          <a:prstGeom prst="roundRect">
            <a:avLst>
              <a:gd name="adj" fmla="val 5000"/>
            </a:avLst>
          </a:prstGeom>
          <a:solidFill>
            <a:srgbClr val="F4EFE3"/>
          </a:solidFill>
          <a:ln w="9525">
            <a:solidFill>
              <a:srgbClr val="5F5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6355080" y="20116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montante del telaio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5394960" y="26517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battuta 4 mm, rientro 2,5 mm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6355080" y="333756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foro passante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548640" y="2788920"/>
            <a:ext cx="5394600" cy="2605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868680" y="29718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La lastra di plexiglas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868680" y="34563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Spessore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2834640" y="34563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2–3 mm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3"/>
          <p:cNvSpPr/>
          <p:nvPr/>
        </p:nvSpPr>
        <p:spPr>
          <a:xfrm>
            <a:off x="868680" y="38678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Taglio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2834640" y="38678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Cutter e spezzatura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868680" y="42793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Misura pannello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2834640" y="4279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Vuoto telaio, −1 mm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868680" y="46908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Fissaggio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2834640" y="46908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Sulla battuta, niente colla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"/>
          <p:cNvPicPr/>
          <p:nvPr/>
        </p:nvPicPr>
        <p:blipFill>
          <a:blip r:embed="rId1"/>
          <a:stretch/>
        </p:blipFill>
        <p:spPr>
          <a:xfrm>
            <a:off x="7740000" y="1859760"/>
            <a:ext cx="5367600" cy="300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nfill Pattern" descr="decorative infill pattern"/>
          <p:cNvPicPr/>
          <p:nvPr/>
        </p:nvPicPr>
        <p:blipFill>
          <a:blip r:embed="rId1"/>
          <a:stretch/>
        </p:blipFill>
        <p:spPr>
          <a:xfrm>
            <a:off x="7992000" y="2657880"/>
            <a:ext cx="4199760" cy="41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Image 0" descr="/home/claude/devfest-fab/organic/blob_amber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-914400" y="914400"/>
            <a:ext cx="3840120" cy="38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Image 1" descr="/home/claude/devfest-fab/icons/warning_amber.png"/>
          <p:cNvPicPr/>
          <p:nvPr/>
        </p:nvPicPr>
        <p:blipFill>
          <a:blip r:embed="rId3"/>
          <a:stretch/>
        </p:blipFill>
        <p:spPr>
          <a:xfrm>
            <a:off x="548640" y="137160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"/>
          <p:cNvSpPr/>
          <p:nvPr/>
        </p:nvSpPr>
        <p:spPr>
          <a:xfrm>
            <a:off x="558720" y="2284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Qualcosa è andato storto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590760" y="3051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Non sempre è un errore di geometria. A volte è solo una distrazione — e i mezzi giusti per rimediare.</a:t>
            </a:r>
            <a:endParaRPr lang="it-IT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QUALCOSA È ANDATO STORTO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548640" y="7772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La ventola che avevo dimenticato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548640" y="15087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Non un bug nello script. Solo una distrazione, e i mezzi giusti per rimediare in fretta.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"/>
          <p:cNvPicPr/>
          <p:nvPr/>
        </p:nvPicPr>
        <p:blipFill>
          <a:blip r:embed="rId1"/>
          <a:stretch/>
        </p:blipFill>
        <p:spPr>
          <a:xfrm rot="20969400">
            <a:off x="7497000" y="44640"/>
            <a:ext cx="3788640" cy="236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Shape 2"/>
          <p:cNvSpPr/>
          <p:nvPr/>
        </p:nvSpPr>
        <p:spPr>
          <a:xfrm>
            <a:off x="548640" y="2103120"/>
            <a:ext cx="1106388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prototipo pronto"/>
          <p:cNvPicPr/>
          <p:nvPr/>
        </p:nvPicPr>
        <p:blipFill>
          <a:blip r:embed="rId2"/>
          <a:stretch/>
        </p:blipFill>
        <p:spPr>
          <a:xfrm>
            <a:off x="822960" y="2469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3"/>
          <p:cNvSpPr/>
          <p:nvPr/>
        </p:nvSpPr>
        <p:spPr>
          <a:xfrm>
            <a:off x="1417320" y="219456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B6D11"/>
                </a:solidFill>
                <a:effectLst/>
                <a:uFillTx/>
                <a:latin typeface="Calibri"/>
                <a:ea typeface="Calibri"/>
              </a:rPr>
              <a:t>1. Il primo prototipo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5166360" y="2194560"/>
            <a:ext cx="6263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Base, Body e Roof assemblati, ESP32 montato. Tutto chiuso, tutto a posto. O almeno così credevo.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548640" y="3291840"/>
            <a:ext cx="1106388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1" descr="problema scoperto"/>
          <p:cNvPicPr/>
          <p:nvPr/>
        </p:nvPicPr>
        <p:blipFill>
          <a:blip r:embed="rId3"/>
          <a:stretch/>
        </p:blipFill>
        <p:spPr>
          <a:xfrm>
            <a:off x="822960" y="3640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6"/>
          <p:cNvSpPr/>
          <p:nvPr/>
        </p:nvSpPr>
        <p:spPr>
          <a:xfrm>
            <a:off x="1417320" y="338328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2. La scoperta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5166360" y="3383280"/>
            <a:ext cx="6263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Solo dopo aver chiuso il prototipo mi accorgo che la ventola di aerazione non l'ho mai montata: nessun vano, nessun attacco, nessuna ventola. Me l'ero proprio scordata.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548640" y="4480560"/>
            <a:ext cx="1106388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2" descr="risolto con zoo.dev"/>
          <p:cNvPicPr/>
          <p:nvPr/>
        </p:nvPicPr>
        <p:blipFill>
          <a:blip r:embed="rId4"/>
          <a:stretch/>
        </p:blipFill>
        <p:spPr>
          <a:xfrm>
            <a:off x="822960" y="4846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9"/>
          <p:cNvSpPr/>
          <p:nvPr/>
        </p:nvSpPr>
        <p:spPr>
          <a:xfrm>
            <a:off x="1417320" y="457200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5FA5"/>
                </a:solidFill>
                <a:effectLst/>
                <a:uFillTx/>
                <a:latin typeface="Calibri"/>
                <a:ea typeface="Calibri"/>
              </a:rPr>
              <a:t>3. La soluzione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5166360" y="4572000"/>
            <a:ext cx="6263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Niente panico, niente rifacimento da zero: apro zoo.dev, text-to-CAD, descrivo il vano e gli attacchi mancanti. Pezzo pronto in pochi minuti, stampato e montato.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 flipV="1">
            <a:off x="8777880" y="720000"/>
            <a:ext cx="884520" cy="450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 flipV="1">
            <a:off x="9000000" y="1080000"/>
            <a:ext cx="884520" cy="450000"/>
          </a:xfrm>
          <a:prstGeom prst="line">
            <a:avLst/>
          </a:prstGeom>
          <a:ln w="36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GLI STRUMENTI A CONFRONTO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48640" y="77724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Tre prompt, tre risultati diversi</a:t>
            </a:r>
            <a:endParaRPr lang="it-IT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548640" y="15087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Niente è universale: ogni strumento ha il suo terreno di caccia, dalla geometria esatta alla forma libera.</a:t>
            </a:r>
            <a:endParaRPr lang="it-I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/home/claude/devfest-fab/organic/blob_amber.png"/>
          <p:cNvPicPr/>
          <p:nvPr/>
        </p:nvPicPr>
        <p:blipFill>
          <a:blip r:embed="rId1">
            <a:alphaModFix amt="22000"/>
          </a:blip>
          <a:stretch/>
        </p:blipFill>
        <p:spPr>
          <a:xfrm>
            <a:off x="411480" y="2286000"/>
            <a:ext cx="3291480" cy="32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Image 1" descr="/home/claude/devfest-fab/icons/box_cream.png"/>
          <p:cNvPicPr/>
          <p:nvPr/>
        </p:nvPicPr>
        <p:blipFill>
          <a:blip r:embed="rId2"/>
          <a:stretch/>
        </p:blipFill>
        <p:spPr>
          <a:xfrm>
            <a:off x="1783080" y="27432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3"/>
          <p:cNvSpPr/>
          <p:nvPr/>
        </p:nvSpPr>
        <p:spPr>
          <a:xfrm>
            <a:off x="274320" y="34290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Gemini + script</a:t>
            </a:r>
            <a:endParaRPr lang="it-IT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"/>
          <p:cNvSpPr/>
          <p:nvPr/>
        </p:nvSpPr>
        <p:spPr>
          <a:xfrm>
            <a:off x="137160" y="391356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Geometrie parametriche: misure esatte, pannelli, box, fori dimensionati — Base, Body, Roof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2" descr="/home/claude/devfest-fab/organic/blob_amber.png"/>
          <p:cNvPicPr/>
          <p:nvPr/>
        </p:nvPicPr>
        <p:blipFill>
          <a:blip r:embed="rId3">
            <a:alphaModFix amt="22000"/>
          </a:blip>
          <a:stretch/>
        </p:blipFill>
        <p:spPr>
          <a:xfrm>
            <a:off x="4434840" y="1965960"/>
            <a:ext cx="3291480" cy="32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Image 3" descr="/home/claude/devfest-fab/icons/clipboard_cream.png"/>
          <p:cNvPicPr/>
          <p:nvPr/>
        </p:nvPicPr>
        <p:blipFill>
          <a:blip r:embed="rId4"/>
          <a:stretch/>
        </p:blipFill>
        <p:spPr>
          <a:xfrm>
            <a:off x="5806440" y="24231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5"/>
          <p:cNvSpPr/>
          <p:nvPr/>
        </p:nvSpPr>
        <p:spPr>
          <a:xfrm>
            <a:off x="4297680" y="310896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zoo.dev</a:t>
            </a:r>
            <a:endParaRPr lang="it-IT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4160520" y="359352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Text-to-CAD: pezzi tecnici editabili, finiture di precisione, incastri e tolleranze fini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4" descr="/home/claude/devfest-fab/organic/blob_amber.png"/>
          <p:cNvPicPr/>
          <p:nvPr/>
        </p:nvPicPr>
        <p:blipFill>
          <a:blip r:embed="rId5">
            <a:alphaModFix amt="22000"/>
          </a:blip>
          <a:stretch/>
        </p:blipFill>
        <p:spPr>
          <a:xfrm>
            <a:off x="8412480" y="2286000"/>
            <a:ext cx="3291480" cy="32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Image 5" descr="/home/claude/devfest-fab/icons/check_cream.png"/>
          <p:cNvPicPr/>
          <p:nvPr/>
        </p:nvPicPr>
        <p:blipFill>
          <a:blip r:embed="rId6"/>
          <a:stretch/>
        </p:blipFill>
        <p:spPr>
          <a:xfrm>
            <a:off x="9784080" y="27432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7"/>
          <p:cNvSpPr/>
          <p:nvPr/>
        </p:nvSpPr>
        <p:spPr>
          <a:xfrm>
            <a:off x="8275320" y="34290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MeshyAI</a:t>
            </a:r>
            <a:endParaRPr lang="it-IT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8"/>
          <p:cNvSpPr/>
          <p:nvPr/>
        </p:nvSpPr>
        <p:spPr>
          <a:xfrm>
            <a:off x="8138160" y="391356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0C6"/>
                </a:solidFill>
                <a:effectLst/>
                <a:uFillTx/>
                <a:latin typeface="Calibri"/>
                <a:ea typeface="Calibri"/>
              </a:rPr>
              <a:t>Mesh organiche da prompt o immagine: la mascotte della serra, 6 cm, supporti da rifinire sulla coda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9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GLI STRUMENTI A CONFRONTO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48640" y="7772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Quanto costa davvero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548640" y="137160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Free tier diversi, limiti diversi: prezzi verificati a giugno 2026.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Card Gemini"/>
          <p:cNvSpPr/>
          <p:nvPr/>
        </p:nvSpPr>
        <p:spPr>
          <a:xfrm>
            <a:off x="548640" y="2057400"/>
            <a:ext cx="3565800" cy="388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emini Title"/>
          <p:cNvSpPr/>
          <p:nvPr/>
        </p:nvSpPr>
        <p:spPr>
          <a:xfrm>
            <a:off x="731520" y="2194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B6D11"/>
                </a:solidFill>
                <a:effectLst/>
                <a:uFillTx/>
                <a:latin typeface="Calibri"/>
                <a:ea typeface="Calibri"/>
              </a:rPr>
              <a:t>Gemini + script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emini Free Label"/>
          <p:cNvSpPr/>
          <p:nvPr/>
        </p:nvSpPr>
        <p:spPr>
          <a:xfrm>
            <a:off x="731520" y="2697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FREE TIER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emini Free Text"/>
          <p:cNvSpPr/>
          <p:nvPr/>
        </p:nvSpPr>
        <p:spPr>
          <a:xfrm>
            <a:off x="731520" y="30175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 Non troppi limiti, ma con Colab basta e avanza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emini Paid Label"/>
          <p:cNvSpPr/>
          <p:nvPr/>
        </p:nvSpPr>
        <p:spPr>
          <a:xfrm>
            <a:off x="73152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PIANO PRO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emini Price"/>
          <p:cNvSpPr/>
          <p:nvPr/>
        </p:nvSpPr>
        <p:spPr>
          <a:xfrm>
            <a:off x="731520" y="4206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$20</a:t>
            </a: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 / mese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Gemini Badge"/>
          <p:cNvSpPr/>
          <p:nvPr/>
        </p:nvSpPr>
        <p:spPr>
          <a:xfrm>
            <a:off x="731520" y="5212080"/>
            <a:ext cx="3200040" cy="548280"/>
          </a:xfrm>
          <a:prstGeom prst="roundRect">
            <a:avLst>
              <a:gd name="adj" fmla="val 50000"/>
            </a:avLst>
          </a:prstGeom>
          <a:solidFill>
            <a:srgbClr val="E8ED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B6D11"/>
                </a:solidFill>
                <a:effectLst/>
                <a:uFillTx/>
                <a:latin typeface="Calibri"/>
                <a:ea typeface="Calibri"/>
              </a:rPr>
              <a:t>Quello che uso io: pro + Colab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ard zoo.dev"/>
          <p:cNvSpPr/>
          <p:nvPr/>
        </p:nvSpPr>
        <p:spPr>
          <a:xfrm>
            <a:off x="4297680" y="2057400"/>
            <a:ext cx="3565800" cy="388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zoo Title"/>
          <p:cNvSpPr/>
          <p:nvPr/>
        </p:nvSpPr>
        <p:spPr>
          <a:xfrm>
            <a:off x="4480560" y="2194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5FA5"/>
                </a:solidFill>
                <a:effectLst/>
                <a:uFillTx/>
                <a:latin typeface="Calibri"/>
                <a:ea typeface="Calibri"/>
              </a:rPr>
              <a:t>zoo.dev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zoo Free Label"/>
          <p:cNvSpPr/>
          <p:nvPr/>
        </p:nvSpPr>
        <p:spPr>
          <a:xfrm>
            <a:off x="4480560" y="2697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FREE TIER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zoo Free Text"/>
          <p:cNvSpPr/>
          <p:nvPr/>
        </p:nvSpPr>
        <p:spPr>
          <a:xfrm>
            <a:off x="4480560" y="30175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~20 minuti/mese di Zookeeper: si esaurisce in fretta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zoo Paid Label"/>
          <p:cNvSpPr/>
          <p:nvPr/>
        </p:nvSpPr>
        <p:spPr>
          <a:xfrm>
            <a:off x="448056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PIANO PRO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zoo Price"/>
          <p:cNvSpPr/>
          <p:nvPr/>
        </p:nvSpPr>
        <p:spPr>
          <a:xfrm>
            <a:off x="4480560" y="4206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$20</a:t>
            </a: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 / mese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zoo Badge"/>
          <p:cNvSpPr/>
          <p:nvPr/>
        </p:nvSpPr>
        <p:spPr>
          <a:xfrm>
            <a:off x="4480560" y="5212080"/>
            <a:ext cx="3200040" cy="548280"/>
          </a:xfrm>
          <a:prstGeom prst="roundRect">
            <a:avLst>
              <a:gd name="adj" fmla="val 50000"/>
            </a:avLst>
          </a:prstGeom>
          <a:solidFill>
            <a:srgbClr val="DC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5FA5"/>
                </a:solidFill>
                <a:effectLst/>
                <a:uFillTx/>
                <a:latin typeface="Calibri"/>
                <a:ea typeface="Calibri"/>
              </a:rPr>
              <a:t>Quello che uso io: free, a piccole dosi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Card MeshyAI"/>
          <p:cNvSpPr/>
          <p:nvPr/>
        </p:nvSpPr>
        <p:spPr>
          <a:xfrm>
            <a:off x="8046720" y="2057400"/>
            <a:ext cx="3565800" cy="388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Meshy Title"/>
          <p:cNvSpPr/>
          <p:nvPr/>
        </p:nvSpPr>
        <p:spPr>
          <a:xfrm>
            <a:off x="8229600" y="2194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MeshyAI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Meshy Free Label"/>
          <p:cNvSpPr/>
          <p:nvPr/>
        </p:nvSpPr>
        <p:spPr>
          <a:xfrm>
            <a:off x="8229600" y="2697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FREE TIER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Meshy Free Text"/>
          <p:cNvSpPr/>
          <p:nvPr/>
        </p:nvSpPr>
        <p:spPr>
          <a:xfrm>
            <a:off x="8229600" y="30175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100 credit/mese, ma asset pubblici: niente download privato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Meshy Paid Label"/>
          <p:cNvSpPr/>
          <p:nvPr/>
        </p:nvSpPr>
        <p:spPr>
          <a:xfrm>
            <a:off x="822960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PIANO PRO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Meshy Price"/>
          <p:cNvSpPr/>
          <p:nvPr/>
        </p:nvSpPr>
        <p:spPr>
          <a:xfrm>
            <a:off x="8229600" y="4206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$20</a:t>
            </a:r>
            <a:r>
              <a:rPr lang="en-US" sz="14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 / mese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Meshy Badge"/>
          <p:cNvSpPr/>
          <p:nvPr/>
        </p:nvSpPr>
        <p:spPr>
          <a:xfrm>
            <a:off x="8229600" y="5212080"/>
            <a:ext cx="3200040" cy="548280"/>
          </a:xfrm>
          <a:prstGeom prst="roundRect">
            <a:avLst>
              <a:gd name="adj" fmla="val 50000"/>
            </a:avLst>
          </a:prstGeom>
          <a:solidFill>
            <a:srgbClr val="F5E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Quello che uso io: piano pro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Footer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890"/>
                </a:solidFill>
                <a:effectLst/>
                <a:uFillTx/>
                <a:latin typeface="Calibri"/>
                <a:ea typeface="Calibri"/>
              </a:rPr>
              <a:t>Talk 3 · Fab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PageNum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Image 0" descr="/home/claude/devfest-fab/organic/twig.png"/>
          <p:cNvPicPr/>
          <p:nvPr/>
        </p:nvPicPr>
        <p:blipFill>
          <a:blip r:embed="rId1"/>
          <a:stretch/>
        </p:blipFill>
        <p:spPr>
          <a:xfrm>
            <a:off x="8778240" y="182880"/>
            <a:ext cx="3108600" cy="12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 0"/>
          <p:cNvSpPr/>
          <p:nvPr/>
        </p:nvSpPr>
        <p:spPr>
          <a:xfrm>
            <a:off x="548640" y="411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QUESTO POMERIGGIO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548640" y="8686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3404"/>
                </a:solidFill>
                <a:effectLst/>
                <a:uFillTx/>
                <a:latin typeface="Cambria"/>
                <a:ea typeface="Cambria"/>
              </a:rPr>
              <a:t>Ora vi tocca a voi: si gioca tutti insieme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548640" y="16916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Stesso giro prompt → Colab → slicer, ma sui pezzi veri della serra: Base, Body, Roof, finestre PETG, e una vostra decorazione completamente libera.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 1" descr="/home/claude/devfest-fab/organic/leaf_amber.png"/>
          <p:cNvPicPr/>
          <p:nvPr/>
        </p:nvPicPr>
        <p:blipFill>
          <a:blip r:embed="rId2"/>
          <a:stretch/>
        </p:blipFill>
        <p:spPr>
          <a:xfrm>
            <a:off x="548640" y="2697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3"/>
          <p:cNvSpPr/>
          <p:nvPr/>
        </p:nvSpPr>
        <p:spPr>
          <a:xfrm>
            <a:off x="841320" y="2587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Base — il pannello con la finestra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2" descr="/home/claude/devfest-fab/organic/leaf_amber.png"/>
          <p:cNvPicPr/>
          <p:nvPr/>
        </p:nvPicPr>
        <p:blipFill>
          <a:blip r:embed="rId3"/>
          <a:stretch/>
        </p:blipFill>
        <p:spPr>
          <a:xfrm>
            <a:off x="548640" y="3264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4"/>
          <p:cNvSpPr/>
          <p:nvPr/>
        </p:nvSpPr>
        <p:spPr>
          <a:xfrm>
            <a:off x="841320" y="3154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Body — il telaio a montanti, 4 aperture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3" descr="/home/claude/devfest-fab/organic/leaf_amber.png"/>
          <p:cNvPicPr/>
          <p:nvPr/>
        </p:nvPicPr>
        <p:blipFill>
          <a:blip r:embed="rId4"/>
          <a:stretch/>
        </p:blipFill>
        <p:spPr>
          <a:xfrm>
            <a:off x="548640" y="3831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5"/>
          <p:cNvSpPr/>
          <p:nvPr/>
        </p:nvSpPr>
        <p:spPr>
          <a:xfrm>
            <a:off x="841320" y="3721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Roof — il tetto a falda, il più ostico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4" descr="/home/claude/devfest-fab/organic/leaf_amber.png"/>
          <p:cNvPicPr/>
          <p:nvPr/>
        </p:nvPicPr>
        <p:blipFill>
          <a:blip r:embed="rId5"/>
          <a:stretch/>
        </p:blipFill>
        <p:spPr>
          <a:xfrm>
            <a:off x="6035040" y="2697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6"/>
          <p:cNvSpPr/>
          <p:nvPr/>
        </p:nvSpPr>
        <p:spPr>
          <a:xfrm>
            <a:off x="6327720" y="2587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Finestre PETG — il gradino + la lastra di prova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5" descr="/home/claude/devfest-fab/organic/leaf_amber.png"/>
          <p:cNvPicPr/>
          <p:nvPr/>
        </p:nvPicPr>
        <p:blipFill>
          <a:blip r:embed="rId6"/>
          <a:stretch/>
        </p:blipFill>
        <p:spPr>
          <a:xfrm>
            <a:off x="6035040" y="3264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7"/>
          <p:cNvSpPr/>
          <p:nvPr/>
        </p:nvSpPr>
        <p:spPr>
          <a:xfrm>
            <a:off x="6327720" y="3154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Decorazione libera — qui sfogate la fantasia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6" descr="/home/claude/devfest-fab/organic/leaf_amber.png"/>
          <p:cNvPicPr/>
          <p:nvPr/>
        </p:nvPicPr>
        <p:blipFill>
          <a:blip r:embed="rId7"/>
          <a:stretch/>
        </p:blipFill>
        <p:spPr>
          <a:xfrm>
            <a:off x="6035040" y="3831480"/>
            <a:ext cx="1458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8"/>
          <p:cNvSpPr/>
          <p:nvPr/>
        </p:nvSpPr>
        <p:spPr>
          <a:xfrm>
            <a:off x="6327720" y="372168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3404"/>
                </a:solidFill>
                <a:effectLst/>
                <a:uFillTx/>
                <a:latin typeface="Calibri"/>
                <a:ea typeface="Calibri"/>
              </a:rPr>
              <a:t>Feedback live — il pezzo più bello finisce sulla serra vera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548640" y="5440680"/>
            <a:ext cx="11063880" cy="776880"/>
          </a:xfrm>
          <a:prstGeom prst="roundRect">
            <a:avLst>
              <a:gd name="adj" fmla="val 49412"/>
            </a:avLst>
          </a:prstGeom>
          <a:solidFill>
            <a:srgbClr val="1734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0"/>
          <p:cNvSpPr/>
          <p:nvPr/>
        </p:nvSpPr>
        <p:spPr>
          <a:xfrm>
            <a:off x="868680" y="544068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EFE3"/>
                </a:solidFill>
                <a:effectLst/>
                <a:uFillTx/>
                <a:latin typeface="Calibri"/>
                <a:ea typeface="Calibri"/>
              </a:rPr>
              <a:t>Portate laptop, account Google e lo slicer già installato. Il resto, se va storto, lo aggiustiamo insieme.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F5E5A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Infill Pattern" descr="decorative infill pattern"/>
          <p:cNvPicPr/>
          <p:nvPr/>
        </p:nvPicPr>
        <p:blipFill>
          <a:blip r:embed="rId1"/>
          <a:stretch/>
        </p:blipFill>
        <p:spPr>
          <a:xfrm>
            <a:off x="-600120" y="-600120"/>
            <a:ext cx="3199680" cy="31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Image 0" descr="/home/claude/devfest-fab/organic/blob_leaf.png"/>
          <p:cNvPicPr/>
          <p:nvPr/>
        </p:nvPicPr>
        <p:blipFill>
          <a:blip r:embed="rId2">
            <a:alphaModFix amt="75000"/>
          </a:blip>
          <a:stretch/>
        </p:blipFill>
        <p:spPr>
          <a:xfrm>
            <a:off x="7863840" y="822960"/>
            <a:ext cx="5028840" cy="50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Image 1" descr="/home/claude/devfest-fab/organic/spark_amber.png"/>
          <p:cNvPicPr/>
          <p:nvPr/>
        </p:nvPicPr>
        <p:blipFill>
          <a:blip r:embed="rId3"/>
          <a:stretch/>
        </p:blipFill>
        <p:spPr>
          <a:xfrm>
            <a:off x="777240" y="1417320"/>
            <a:ext cx="776880" cy="77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0"/>
          <p:cNvSpPr/>
          <p:nvPr/>
        </p:nvSpPr>
        <p:spPr>
          <a:xfrm>
            <a:off x="731520" y="2423160"/>
            <a:ext cx="8686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4EFE3"/>
                </a:solidFill>
                <a:effectLst/>
                <a:uFillTx/>
                <a:latin typeface="Cambria"/>
                <a:ea typeface="Cambria"/>
              </a:rPr>
              <a:t>Grazie, e buona stampa!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731520" y="338328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7D6B4"/>
                </a:solidFill>
                <a:effectLst/>
                <a:uFillTx/>
                <a:latin typeface="Calibri"/>
                <a:ea typeface="Calibri"/>
              </a:rPr>
              <a:t>Domande, dubbi o pezzi storti? Ci vediamo al banco Fab, questo pomeriggio.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731520" y="612648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CAE87"/>
                </a:solidFill>
                <a:effectLst/>
                <a:uFillTx/>
                <a:latin typeface="Calibri"/>
                <a:ea typeface="Calibri"/>
              </a:rPr>
              <a:t>Luigi Tuccillo  ·  GDG Basilicata  ·  DevFest 2026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11475720" y="644652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C7A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LibreOffice/26.2.2.2$Windows_X86_64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2026-06-24T18:07:37Z</dcterms:created>
  <dc:creator>Luigi Tuccillo</dc:creator>
  <dc:description/>
  <dc:language>it-IT</dc:language>
  <cp:lastModifiedBy/>
  <dcterms:modified xsi:type="dcterms:W3CDTF">2026-06-26T19:13:49Z</dcterms:modified>
  <cp:revision>3</cp:revision>
  <dc:subject>PptxGenJS Presentation</dc:subject>
  <dc:title>Dal prompt alla serra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